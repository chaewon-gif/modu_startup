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QvanCXtWm49sSnML/9Aw3HDyD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9AF2BE-C383-4924-BF31-5604A62158CB}">
  <a:tblStyle styleId="{BB9AF2BE-C383-4924-BF31-5604A62158C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0" y="320040"/>
            <a:ext cx="2926080" cy="2926080"/>
          </a:xfrm>
          <a:prstGeom prst="ellipse">
            <a:avLst/>
          </a:prstGeom>
          <a:solidFill>
            <a:srgbClr val="00B4D8">
              <a:alpha val="10196"/>
            </a:srgbClr>
          </a:solidFill>
          <a:ln cap="flat" cmpd="sng" w="12700">
            <a:solidFill>
              <a:srgbClr val="00B4D8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132320" y="1051560"/>
            <a:ext cx="1645920" cy="1645920"/>
          </a:xfrm>
          <a:prstGeom prst="ellipse">
            <a:avLst/>
          </a:prstGeom>
          <a:solidFill>
            <a:srgbClr val="00B4D8">
              <a:alpha val="16862"/>
            </a:srgbClr>
          </a:solidFill>
          <a:ln cap="flat" cmpd="sng" w="9525">
            <a:solidFill>
              <a:srgbClr val="00B4D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863840" y="3474720"/>
            <a:ext cx="914400" cy="914400"/>
          </a:xfrm>
          <a:prstGeom prst="ellipse">
            <a:avLst/>
          </a:prstGeom>
          <a:solidFill>
            <a:srgbClr val="1565C0">
              <a:alpha val="34901"/>
            </a:srgbClr>
          </a:solidFill>
          <a:ln cap="flat" cmpd="sng" w="9525">
            <a:solidFill>
              <a:srgbClr val="1565C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48640" y="457200"/>
            <a:ext cx="1828800" cy="31089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457200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모두의 창업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960120"/>
            <a:ext cx="6400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Wonn-Factory-MES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2075688"/>
            <a:ext cx="18288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2221992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 자연어 및 음성 인터페이스 기술이 적용된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MES SaaS 서비스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제조 현장의 디지털 전환 — 누구나, 쉽게, 즉시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국내 중소제조 현장의 현실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65760" y="868680"/>
            <a:ext cx="2560320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65760" y="868680"/>
            <a:ext cx="256032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65760" y="96012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19.5%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193852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스마트공장 도입률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22402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(중소제조기업)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00400" y="868680"/>
            <a:ext cx="2560320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200400" y="868680"/>
            <a:ext cx="256032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200400" y="96012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14.4%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200400" y="193852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MES 실질 활용률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200400" y="22402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(도입 기업 중)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035040" y="868680"/>
            <a:ext cx="2560320" cy="2240280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035040" y="868680"/>
            <a:ext cx="256032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035040" y="96012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80%+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035040" y="193852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수작업·엑셀 중심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035040" y="22402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생산관리 기업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5760" y="3218688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출처: 중소벤처기업부 스마트제조혁신 실태조사,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" y="3502152"/>
            <a:ext cx="8412480" cy="132588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65760" y="3502152"/>
            <a:ext cx="54864" cy="13258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48640" y="356616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결과적으로…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48640" y="3858768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국내 16만여 공장 보유 중소제조기업의 80% 이상이 수작업·엑셀 중심으로 생산 관리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생산성 저하 · 재고 오류 · 불량률 증가 · 산업재해 위험 지속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57200" y="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기존 MES 도입의 두 가지 핵심 장벽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20040" y="841248"/>
            <a:ext cx="4069080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320040" y="841248"/>
            <a:ext cx="406908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29768" y="84124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기준정보 세팅의 복잡성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1481328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BOM·ROUTING 등 기준정보를 등록하려면 IT 전문 인력이 수개월에 걸쳐 작업 필요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2157984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추가 컨설팅 비용 발생 — 대부분의 중소기업은 전담 인력 자체가 없음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283464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전담 IT 인력 보유 기업은 단 19.5%에 불과 (동 실태조사)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29768" y="4105656"/>
            <a:ext cx="3849624" cy="548640"/>
          </a:xfrm>
          <a:prstGeom prst="rect">
            <a:avLst/>
          </a:prstGeom>
          <a:solidFill>
            <a:srgbClr val="E0F7FA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84632" y="4105656"/>
            <a:ext cx="3739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"전담 IT 인력 없는 중소기업은 처음부터 진입 불가"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754880" y="841248"/>
            <a:ext cx="4069080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754880" y="841248"/>
            <a:ext cx="406908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864608" y="84124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현장 작업자의 접근성 한계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892040" y="1481328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50대 이상이 다수인 현장 작업자에게 복잡한 화면·키보드 입력은 높은 진입 장벽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892040" y="2157984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실적 입력 지연 → 수작업·엑셀 병행 지속, 재고 불일치 반복 발생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892040" y="2834640"/>
            <a:ext cx="3794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"볼트 2개 옆 창고에 가져감" 미기록 → 재고 오류 누적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864608" y="4105656"/>
            <a:ext cx="3849624" cy="548640"/>
          </a:xfrm>
          <a:prstGeom prst="rect">
            <a:avLst/>
          </a:prstGeom>
          <a:solidFill>
            <a:srgbClr val="E0F7FA"/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919472" y="4105656"/>
            <a:ext cx="3739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"스마트폰도 불편한 현장에서 복잡한 UI는 답이 아님"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시장 기회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65760" y="850392"/>
            <a:ext cx="3931920" cy="246888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65760" y="896112"/>
            <a:ext cx="3931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$183</a:t>
            </a:r>
            <a:r>
              <a:rPr b="1" lang="en-US" sz="33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억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65760" y="216712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글로벌 MES 시장 규모 (2026년)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65760" y="254203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약 25조 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846320" y="850392"/>
            <a:ext cx="3931920" cy="246888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846320" y="896112"/>
            <a:ext cx="3931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3만 개사+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846320" y="216712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국내 목표 시장 (중소제조기업)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846320" y="254203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금속가공·플라스틱 사출 업종 우선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65760" y="3493008"/>
            <a:ext cx="8412480" cy="1325880"/>
          </a:xfrm>
          <a:prstGeom prst="rect">
            <a:avLst/>
          </a:prstGeom>
          <a:solidFill>
            <a:srgbClr val="142A3E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65760" y="3493008"/>
            <a:ext cx="64008" cy="13258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66928" y="354787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자연어·음성 기반 대화형 AI Agent를 핵심으로 한 SaaS형 솔루션은 아직 초기 단계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66928" y="39136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80% 이상의 미도입 중소 제조업체가 잠재 수요처 — 선점 효과 극대화 가능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66928" y="42976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중소벤처기업부 2030년 스마트공장 1.2만 개 보급 목표 정책과 직접 부합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57200" y="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솔루션: Wonn-Factory-MES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20040" y="841248"/>
            <a:ext cx="8503920" cy="102412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20040" y="841248"/>
            <a:ext cx="64008" cy="102412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512064" y="841248"/>
            <a:ext cx="82296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자연어 및 음성 명령으로 누구나 쉽게 사용할 수 있는 대화형 AI Agent 기반 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복잡한 UI와 기준정보 입력의 장벽을 근본적으로 제거하여 제조 현장의 데이터 활용 효율을 높임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20040" y="2011680"/>
            <a:ext cx="2029968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320040" y="2011680"/>
            <a:ext cx="2029968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1060704" y="2167128"/>
            <a:ext cx="548640" cy="54864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060704" y="21671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20040" y="2834640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작업지시 생성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57200" y="3310128"/>
            <a:ext cx="1755648" cy="118872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57200" y="3310128"/>
            <a:ext cx="1755648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57200" y="3355848"/>
            <a:ext cx="17556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"A품목 100개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작업지시 만들어줘"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2438705" y="2011680"/>
            <a:ext cx="2029968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2438705" y="2011680"/>
            <a:ext cx="2029968" cy="6400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3179369" y="2167128"/>
            <a:ext cx="548640" cy="54864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179369" y="21671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438705" y="2834640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재고 조회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575865" y="3310128"/>
            <a:ext cx="1755648" cy="118872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2575865" y="3310128"/>
            <a:ext cx="1755648" cy="457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2575865" y="3355848"/>
            <a:ext cx="17556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"현재고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알려줘"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57370" y="2011680"/>
            <a:ext cx="2029968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557370" y="2011680"/>
            <a:ext cx="2029968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298034" y="2167128"/>
            <a:ext cx="548640" cy="54864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5298034" y="21671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57370" y="2834640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음성 재고이동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694530" y="3310128"/>
            <a:ext cx="1755648" cy="118872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694530" y="3310128"/>
            <a:ext cx="1755648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694530" y="3355848"/>
            <a:ext cx="17556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"B공장으로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볼트 2개 이동"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676034" y="2011680"/>
            <a:ext cx="2029968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676034" y="2011680"/>
            <a:ext cx="2029968" cy="6400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416698" y="2167128"/>
            <a:ext cx="548640" cy="54864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7416698" y="21671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676034" y="2834640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생산현황 확인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813194" y="3310128"/>
            <a:ext cx="1755648" cy="118872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6813194" y="3310128"/>
            <a:ext cx="1755648" cy="457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813194" y="3355848"/>
            <a:ext cx="17556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"오늘 생산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실적 보여줘"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457200" y="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경쟁사 분석 및 차별화 포인트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6"/>
          <p:cNvGraphicFramePr/>
          <p:nvPr/>
        </p:nvGraphicFramePr>
        <p:xfrm>
          <a:off x="320040" y="841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{BB9AF2BE-C383-4924-BF31-5604A62158CB}</a:tableStyleId>
              </a:tblPr>
              <a:tblGrid>
                <a:gridCol w="2011675"/>
                <a:gridCol w="3474725"/>
                <a:gridCol w="3017525"/>
              </a:tblGrid>
              <a:tr h="65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구분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기존 경쟁사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(엠아이큐브 · HD솔루션즈 · 비젠트로)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1B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Wonn-Factory-MES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4D8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 방식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복잡한 전통 UI (메뉴·키보드 중심)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자연어·음성 AI Agent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도입 형태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구축형 / 전통 설치형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SaaS (클라우드)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초기 비용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수천만 ~ 수억 원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월 25,000원부터 시작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중소기업 접근성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제한적 (IT 전문 인력 필요)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누구나 즉시 사용 가능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Agent 기능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거의 없음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핵심 차별화 기능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127000" marL="1270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57200" y="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비즈니스 모델 — Tiered SaaS + AI 사용량 과금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48056" y="841248"/>
            <a:ext cx="1993392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48056" y="841248"/>
            <a:ext cx="1993392" cy="6400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48056" y="969264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Basic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30936" y="1481328"/>
            <a:ext cx="1627632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48056" y="1581912"/>
            <a:ext cx="1993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₩25,000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48056" y="235000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39496" y="2743200"/>
            <a:ext cx="181051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0GB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월 5,000회 포함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초과 100회당 ₩100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532888" y="841248"/>
            <a:ext cx="1993392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532888" y="841248"/>
            <a:ext cx="1993392" cy="6400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2532888" y="969264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715768" y="1481328"/>
            <a:ext cx="1627632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532888" y="1581912"/>
            <a:ext cx="1993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₩100,000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2532888" y="235000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624328" y="2743200"/>
            <a:ext cx="181051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0GB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월 50,000회 포함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초과 100회당 ₩70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617720" y="841248"/>
            <a:ext cx="1993392" cy="393192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617720" y="841248"/>
            <a:ext cx="1993392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617720" y="969264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800600" y="1481328"/>
            <a:ext cx="1627632" cy="2743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617720" y="1581912"/>
            <a:ext cx="1993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₩590,000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617720" y="235000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/월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709160" y="2743200"/>
            <a:ext cx="181051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2TB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월 500,000회 포함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초과 100회당 ₩50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702552" y="841248"/>
            <a:ext cx="1993392" cy="393192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702552" y="841248"/>
            <a:ext cx="1993392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702552" y="969264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885432" y="1481328"/>
            <a:ext cx="1627632" cy="2743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702552" y="1581912"/>
            <a:ext cx="1993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₩150~200만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702552" y="235000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/월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793992" y="2743200"/>
            <a:ext cx="181051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독립 서버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전용 인스턴스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커스텀 로직 협의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초기 저가로 고객 수 확대 → 사용량 증가 → Enterprise 전환으로 고마진 수익 실현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57200" y="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시장 진입 전략 및 로드맵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53212" y="841248"/>
            <a:ext cx="1920240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53212" y="8412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하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반기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53212" y="1225296"/>
            <a:ext cx="192024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239012" y="1371600"/>
            <a:ext cx="548640" cy="54864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1239012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53212" y="2103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MVP 완성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36092" y="2542032"/>
            <a:ext cx="1554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62940" y="2679192"/>
            <a:ext cx="170078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자연어·음성 AI Agent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핵심 기능 개발 완료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473452" y="2258568"/>
            <a:ext cx="118872" cy="274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2592324" y="841248"/>
            <a:ext cx="1920240" cy="38404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2592324" y="8412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상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반기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2592324" y="1225296"/>
            <a:ext cx="1920240" cy="352044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3278124" y="1371600"/>
            <a:ext cx="548640" cy="54864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278124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592324" y="2103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무상 파일럿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2775204" y="2542032"/>
            <a:ext cx="1554480" cy="2743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2702052" y="2679192"/>
            <a:ext cx="170078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중기부·지자체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스마트공장 지원사업 참여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1~3개사 무상 파일럿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512564" y="2258568"/>
            <a:ext cx="118872" cy="274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631436" y="841248"/>
            <a:ext cx="1920240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631436" y="8412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~202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631436" y="1225296"/>
            <a:ext cx="192024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5317236" y="1371600"/>
            <a:ext cx="548640" cy="54864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5317236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631436" y="2103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성공사례 축적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814316" y="2542032"/>
            <a:ext cx="1554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741164" y="2679192"/>
            <a:ext cx="170078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파일럿 레퍼런스화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중소기업 신뢰 확보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정책 연계 확산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551676" y="2258568"/>
            <a:ext cx="118872" cy="2743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670548" y="841248"/>
            <a:ext cx="1920240" cy="38404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670548" y="8412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년~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670548" y="1225296"/>
            <a:ext cx="1920240" cy="352044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7356348" y="1371600"/>
            <a:ext cx="548640" cy="54864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7356348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670548" y="2103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유료 전환 확대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853428" y="2542032"/>
            <a:ext cx="1554480" cy="2743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6780276" y="2679192"/>
            <a:ext cx="170078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50~100개사 유료 전환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MRR 확대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Enterprise 전환 가속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53212" y="4846320"/>
            <a:ext cx="8037576" cy="246888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53212" y="4846320"/>
            <a:ext cx="80375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목표: 연매출 10~300억 원 중소제조기업 (금속가공·플라스틱 사출 우선, 약 3만 개사)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583680" y="365760"/>
            <a:ext cx="2743200" cy="2743200"/>
          </a:xfrm>
          <a:prstGeom prst="ellipse">
            <a:avLst/>
          </a:prstGeom>
          <a:solidFill>
            <a:srgbClr val="00B4D8">
              <a:alpha val="10196"/>
            </a:srgbClr>
          </a:solidFill>
          <a:ln cap="flat" cmpd="sng" w="12700">
            <a:solidFill>
              <a:srgbClr val="00B4D8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-822960" y="3383280"/>
            <a:ext cx="2011680" cy="2011680"/>
          </a:xfrm>
          <a:prstGeom prst="ellipse">
            <a:avLst/>
          </a:prstGeom>
          <a:solidFill>
            <a:srgbClr val="1565C0">
              <a:alpha val="30196"/>
            </a:srgbClr>
          </a:solidFill>
          <a:ln cap="flat" cmpd="sng" w="9525">
            <a:solidFill>
              <a:srgbClr val="1565C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548640" y="2560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핵심 요약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48640" y="64008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Wonn-Factory-MES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48640" y="1691640"/>
            <a:ext cx="18288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548640" y="1920240"/>
            <a:ext cx="438912" cy="43891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548640" y="192024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115568" y="1956816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자연어·음성 AI Agent로 복잡한 MES를 누구나 쉽게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8640" y="2670048"/>
            <a:ext cx="438912" cy="43891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548640" y="267004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115568" y="2706624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월 25,000원 SaaS로 80% 미도입 중소 제조기업 진입장벽 해소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48640" y="3419856"/>
            <a:ext cx="438912" cy="43891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548640" y="341985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115568" y="3456432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중기부 2030 스마트공장 정책 기조와 직접 부합, 선점 우위 확보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제조 현장의 디지털 전환을 더 쉽고 스마트하게 — Wonn-Factory-MES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2026-04-09T13:31:42Z</dcterms:created>
  <dc:creator>PptxGenJS</dc:creator>
</cp:coreProperties>
</file>